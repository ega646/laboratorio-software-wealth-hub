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4B40A1-9DD7-4C44-B514-BF9C29925A5D}">
  <a:tblStyle styleId="{804B40A1-9DD7-4C44-B514-BF9C29925A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0be550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0be550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dk1"/>
                </a:solidFill>
              </a:rPr>
              <a:t>Una plataforma web inteligente de </a:t>
            </a:r>
            <a:r>
              <a:rPr b="1" lang="es" sz="1200">
                <a:solidFill>
                  <a:schemeClr val="dk1"/>
                </a:solidFill>
              </a:rPr>
              <a:t>consolidación de patrimonio</a:t>
            </a:r>
            <a:r>
              <a:rPr lang="es" sz="1200">
                <a:solidFill>
                  <a:schemeClr val="dk1"/>
                </a:solidFill>
              </a:rPr>
              <a:t> de tipo </a:t>
            </a:r>
            <a:r>
              <a:rPr i="1" lang="es" sz="1200">
                <a:solidFill>
                  <a:schemeClr val="dk1"/>
                </a:solidFill>
              </a:rPr>
              <a:t>read-only</a:t>
            </a:r>
            <a:r>
              <a:rPr lang="e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dk1"/>
                </a:solidFill>
              </a:rPr>
              <a:t>Unificar en una sola interfaz todos tus activos (Cripto, Acciones, ETFs y Efectivo).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dk1"/>
                </a:solidFill>
              </a:rPr>
              <a:t>No es solo un rastreador; es un </a:t>
            </a:r>
            <a:r>
              <a:rPr b="1" lang="es" sz="1200">
                <a:solidFill>
                  <a:schemeClr val="dk1"/>
                </a:solidFill>
              </a:rPr>
              <a:t>motor de análisis</a:t>
            </a:r>
            <a:r>
              <a:rPr lang="es" sz="1200">
                <a:solidFill>
                  <a:schemeClr val="dk1"/>
                </a:solidFill>
              </a:rPr>
              <a:t> que usa APIs en tiempo real y algoritmos de optimización para que el usuario tome decisiones basadas en datos, no en emociones.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a0be5503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a0be5503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a0be5503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a0be550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Socios Fundadores (Nosotros):</a:t>
            </a:r>
            <a:r>
              <a:rPr lang="es">
                <a:solidFill>
                  <a:schemeClr val="dk1"/>
                </a:solidFill>
              </a:rPr>
              <a:t> Aportamos el capital intelectual, el desarrollo del stack tecnológico (Next.js/Supabase) y la gestión operativa.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Inversores (Business Angels / Venture Capital):</a:t>
            </a:r>
            <a:r>
              <a:rPr lang="es">
                <a:solidFill>
                  <a:schemeClr val="dk1"/>
                </a:solidFill>
              </a:rPr>
              <a:t> Buscamos perfiles interesados en </a:t>
            </a:r>
            <a:r>
              <a:rPr i="1" lang="es">
                <a:solidFill>
                  <a:schemeClr val="dk1"/>
                </a:solidFill>
              </a:rPr>
              <a:t>FinTech</a:t>
            </a:r>
            <a:r>
              <a:rPr lang="es">
                <a:solidFill>
                  <a:schemeClr val="dk1"/>
                </a:solidFill>
              </a:rPr>
              <a:t> que aporten capital semilla para escalar la infraestructura y cubrir costes de APIs premium.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Usuarios Finales (Stakeholders Indirectos):</a:t>
            </a:r>
            <a:r>
              <a:rPr lang="es">
                <a:solidFill>
                  <a:schemeClr val="dk1"/>
                </a:solidFill>
              </a:rPr>
              <a:t> Inversores minoristas y entusiastas de las finanzas que validan el producto (Product-Market Fit).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0be5503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0be5503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a2dc3a2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a2dc3a2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a2dc3a20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a2dc3a20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2dc3a20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2dc3a20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a0f1e29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a0f1e29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a15d5258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a15d5258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a15d5258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a15d5258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a15d5258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a15d5258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a15d5258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a15d5258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a28e50e1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a28e50e1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a28e50e1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a28e50e1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a28e50e1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a28e50e1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a2dc3a20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a2dc3a20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a28e50e1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a28e50e1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Wealth Hub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226650" y="126250"/>
            <a:ext cx="4345500" cy="801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177"/>
              <a:t>Wealth Hub</a:t>
            </a:r>
            <a:endParaRPr sz="3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 </a:t>
            </a:r>
            <a:r>
              <a:rPr lang="es" sz="2000"/>
              <a:t>¿Qué es?</a:t>
            </a:r>
            <a:endParaRPr sz="2000"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5251525" y="724200"/>
            <a:ext cx="341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" sz="1400">
                <a:latin typeface="Arial"/>
                <a:ea typeface="Arial"/>
                <a:cs typeface="Arial"/>
                <a:sym typeface="Arial"/>
              </a:rPr>
              <a:t>Consolidación Inteligente: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 Plataforma </a:t>
            </a:r>
            <a:r>
              <a:rPr i="1" lang="es" sz="1400">
                <a:latin typeface="Arial"/>
                <a:ea typeface="Arial"/>
                <a:cs typeface="Arial"/>
                <a:sym typeface="Arial"/>
              </a:rPr>
              <a:t>read-only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 que unifica Cripto, Acciones y ETFs.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" sz="1400">
                <a:latin typeface="Arial"/>
                <a:ea typeface="Arial"/>
                <a:cs typeface="Arial"/>
                <a:sym typeface="Arial"/>
              </a:rPr>
              <a:t>Datos en Tiempo Real: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 Integración directa vía APIs para valoraciones actualizadas.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s" sz="1400">
                <a:latin typeface="Arial"/>
                <a:ea typeface="Arial"/>
                <a:cs typeface="Arial"/>
                <a:sym typeface="Arial"/>
              </a:rPr>
              <a:t>Optimización Estratégica:</a:t>
            </a:r>
            <a:r>
              <a:rPr lang="es" sz="1400">
                <a:latin typeface="Arial"/>
                <a:ea typeface="Arial"/>
                <a:cs typeface="Arial"/>
                <a:sym typeface="Arial"/>
              </a:rPr>
              <a:t> Algoritmos avanzados para decisiones basadas en datos.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4" title="Gemini_Generated_Image_z5j7whz5j7whz5j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00" y="1105850"/>
            <a:ext cx="3313449" cy="3313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title="Gemini_Generated_Image_kz5axgkz5axgkz5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225" y="1038175"/>
            <a:ext cx="3067149" cy="30671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¿Qué problemas resuelve?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501825"/>
            <a:ext cx="39999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Fragmentación: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capital está disperso en demasiadas plataformas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perdiendo la visión del "Net Worth" total.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Barrera de Información: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de riesgo y el </a:t>
            </a:r>
            <a:r>
              <a:rPr b="1" i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backtesting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(saber si tu estrategia funciona) requiere conocimientos técnicos que el usuario promedio no tiene.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 Operativa: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seguimiento manual en hojas de cálculo es lento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propenso a errores y nunca está actualizado al minuto.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4850" y="1146250"/>
            <a:ext cx="9144000" cy="400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/>
              <a:t>Ecosistema de Stakeholders</a:t>
            </a:r>
            <a:endParaRPr sz="2850"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445325"/>
            <a:ext cx="2520000" cy="28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Socios Fundadores (Nosotros):</a:t>
            </a:r>
            <a:r>
              <a:rPr lang="e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técnico (Next.js/Supabase)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operativa y capital intelectual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idx="2" type="body"/>
          </p:nvPr>
        </p:nvSpPr>
        <p:spPr>
          <a:xfrm>
            <a:off x="3218275" y="1445325"/>
            <a:ext cx="2520000" cy="28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Inversores (Business Angels / Venture Capital):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Financiación para infraestructura y APIs premium.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Escalabilidad del modelo de negocio.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6124850" y="1445325"/>
            <a:ext cx="2520000" cy="28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Usuarios Finales (Stakeholders Indirectos):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 </a:t>
            </a:r>
            <a:endParaRPr sz="15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s" sz="1200">
                <a:solidFill>
                  <a:schemeClr val="lt1"/>
                </a:solidFill>
              </a:rPr>
              <a:t>Validación de mercado.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s" sz="1200">
                <a:solidFill>
                  <a:schemeClr val="lt1"/>
                </a:solidFill>
              </a:rPr>
              <a:t>Inversores minoristas y entusiastas FinTech.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-485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3999900" cy="113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2850">
                <a:solidFill>
                  <a:schemeClr val="lt1"/>
                </a:solidFill>
              </a:rPr>
              <a:t>Beneficios del proyecto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748800"/>
            <a:ext cx="3999900" cy="28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Eficiencia Temporal:</a:t>
            </a:r>
            <a:r>
              <a:rPr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Automatización total. El usuario ahorra horas de gestión manual cada semana.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Seguridad y Confianza:</a:t>
            </a:r>
            <a:r>
              <a:rPr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 ser una plataforma de </a:t>
            </a:r>
            <a:r>
              <a:rPr b="1"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solo lectura</a:t>
            </a:r>
            <a:r>
              <a:rPr lang="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el riesgo de pérdida de fondos es cero. Privacidad total mediante cifrado AES-256.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4832400" y="1748675"/>
            <a:ext cx="3999900" cy="28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Mejores Resultados:</a:t>
            </a:r>
            <a:r>
              <a:rPr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Gracias a los modelos de "Frontera Eficiente", el usuario reduce su exposición al riesgo y optimiza sus retornos a largo plazo.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Escalabilidad:</a:t>
            </a:r>
            <a:r>
              <a:rPr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modelo </a:t>
            </a:r>
            <a:r>
              <a:rPr i="1"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r>
              <a:rPr lang="e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bajo arquitectura Serverless que permite crecer a bajo coste.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 title="Gemini_Generated_Image_9os5ib9os5ib9os5.png"/>
          <p:cNvPicPr preferRelativeResize="0"/>
          <p:nvPr/>
        </p:nvPicPr>
        <p:blipFill rotWithShape="1">
          <a:blip r:embed="rId3">
            <a:alphaModFix/>
          </a:blip>
          <a:srcRect b="30509" l="0" r="0" t="33741"/>
          <a:stretch/>
        </p:blipFill>
        <p:spPr>
          <a:xfrm>
            <a:off x="4832400" y="3333900"/>
            <a:ext cx="4059451" cy="1451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4736"/>
              <a:buFont typeface="Arial"/>
              <a:buNone/>
            </a:pPr>
            <a:r>
              <a:rPr lang="es" sz="2850">
                <a:solidFill>
                  <a:schemeClr val="lt1"/>
                </a:solidFill>
              </a:rPr>
              <a:t>Hitos del proyecto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156175" y="1763825"/>
            <a:ext cx="28668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M1: Cimientos y Diseño: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Finalización del modelo de datos, arquitectura de seguridad y prototipado UI/UX.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679150" y="3118775"/>
            <a:ext cx="73620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8"/>
          <p:cNvSpPr txBox="1"/>
          <p:nvPr/>
        </p:nvSpPr>
        <p:spPr>
          <a:xfrm>
            <a:off x="4953325" y="2662300"/>
            <a:ext cx="42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747725" y="3421625"/>
            <a:ext cx="2992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M2: Integración y Conectividad:</a:t>
            </a:r>
            <a:r>
              <a:rPr lang="es" sz="1300"/>
              <a:t> Conexión con APIs financieras y normalización multiactivo.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399025" y="1748775"/>
            <a:ext cx="2803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M3: Inteligencia y Simulación:</a:t>
            </a:r>
            <a:r>
              <a:rPr lang="es" sz="1300"/>
              <a:t> Implementación de algoritmos de optimización, back/forward testing.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197825" y="3491625"/>
            <a:ext cx="3083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M4: Pruebas y QA:</a:t>
            </a:r>
            <a:r>
              <a:rPr lang="es" sz="1300"/>
              <a:t> Auditoría de seguridad, optimización de rendimiento.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" name="Google Shape;131;p18"/>
          <p:cNvCxnSpPr/>
          <p:nvPr/>
        </p:nvCxnSpPr>
        <p:spPr>
          <a:xfrm rot="10800000">
            <a:off x="1439825" y="2815925"/>
            <a:ext cx="0" cy="605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/>
          <p:nvPr/>
        </p:nvCxnSpPr>
        <p:spPr>
          <a:xfrm rot="10800000">
            <a:off x="3022975" y="2815925"/>
            <a:ext cx="0" cy="605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/>
          <p:nvPr/>
        </p:nvCxnSpPr>
        <p:spPr>
          <a:xfrm rot="10800000">
            <a:off x="4572000" y="2815925"/>
            <a:ext cx="0" cy="605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8"/>
          <p:cNvCxnSpPr/>
          <p:nvPr/>
        </p:nvCxnSpPr>
        <p:spPr>
          <a:xfrm rot="10800000">
            <a:off x="6506250" y="2815925"/>
            <a:ext cx="0" cy="605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8"/>
          <p:cNvSpPr txBox="1"/>
          <p:nvPr/>
        </p:nvSpPr>
        <p:spPr>
          <a:xfrm>
            <a:off x="6965325" y="1832163"/>
            <a:ext cx="1946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M5: Despliegue:</a:t>
            </a:r>
            <a:r>
              <a:rPr lang="es" sz="1300"/>
              <a:t> Puesta en producción Cloud.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7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Exclusiones y Límites Operativos</a:t>
            </a:r>
            <a:endParaRPr sz="27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311700" y="1229975"/>
            <a:ext cx="3999900" cy="3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Strictly Read-Only: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ejecución de operaciones de compra/venta.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de Activos: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custodia de fondos ni almacenamiento de claves privadas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Enfoque Web: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Diseñada para navegadores, sin despliegue en tiendas de apps.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Naturaleza Informativa: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asesoría financiera legal ni recomendaciones reguladas.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9" title="Data-Privacy-vs.-Data-Secu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675" y="1672975"/>
            <a:ext cx="4935324" cy="258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 txBox="1"/>
          <p:nvPr>
            <p:ph idx="2" type="body"/>
          </p:nvPr>
        </p:nvSpPr>
        <p:spPr>
          <a:xfrm>
            <a:off x="166050" y="1017800"/>
            <a:ext cx="3837000" cy="38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Next.js + Tailwind CSS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&amp; Cloud: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Supabase + Edge Functions (Arquitectura </a:t>
            </a:r>
            <a:r>
              <a:rPr i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serverless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PostgreSQL con cifrado AES-256 para protección de credenciales sensibles.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Conexión vía REST/Websockets con Binance, Alpha Vantage y Yahoo Finance.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Hosting: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Vercel.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7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Stack </a:t>
            </a:r>
            <a:r>
              <a:rPr lang="es" sz="27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tecnológico</a:t>
            </a:r>
            <a:endParaRPr sz="27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0" title="develop-your-web-application-using-nextjs-supabas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200" y="1466250"/>
            <a:ext cx="4375674" cy="272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Cronograma del proyecto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311700" y="1501825"/>
            <a:ext cx="78771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abarca 4 meses de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realización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(Febrero 16- Mayo 25). Correspondiendo a 14 semanas de trabajo.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Dividido en las siguientes fases: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(1.5 Semanas)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(0.5 Semana)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(1 Semana)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(9 Semanas)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(2 Semanas)   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■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Dividido en dos fases, pruebas de prototipo y de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○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Entrega y cierre del proyecto (3 Semanas)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■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Entrega dividida en dos fases, de prototipo y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realizará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seguimiento semanal del progreso del proyecto, con algunas tareas abarcando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múltiples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semanas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8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Calendario de fases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3550"/>
            <a:ext cx="8839200" cy="3614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Cronograma completo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8" y="1199699"/>
            <a:ext cx="9085726" cy="348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Camino C</a:t>
            </a:r>
            <a:r>
              <a:rPr lang="es" sz="2850">
                <a:solidFill>
                  <a:schemeClr val="lt1"/>
                </a:solidFill>
              </a:rPr>
              <a:t>rítico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825" y="1280825"/>
            <a:ext cx="4425651" cy="36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479150" y="1491975"/>
            <a:ext cx="3692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Front End</a:t>
            </a:r>
            <a:endParaRPr b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Back End</a:t>
            </a:r>
            <a:endParaRPr b="1"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BD</a:t>
            </a:r>
            <a:b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Ya que solo disponemos de un experto de front end el camino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crítico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sigue principalmente sus tareas,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más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la tarea de desarrollo previa y de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integración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para la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versión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producción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Seguimiento e incidencias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311700" y="1584450"/>
            <a:ext cx="46410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ágil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reuniones semanales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caso de retrasos o complicaciones emplear las plantillas de incidencias e informar al especialista apropiado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Reestructuración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trabajo, funcionalidades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básicas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toman prioridad sobre implementaciones opcionales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Reubicación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recursos, favorecer perfiles polivalentes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85"/>
          </a:p>
        </p:txBody>
      </p:sp>
      <p:graphicFrame>
        <p:nvGraphicFramePr>
          <p:cNvPr id="188" name="Google Shape;188;p25"/>
          <p:cNvGraphicFramePr/>
          <p:nvPr/>
        </p:nvGraphicFramePr>
        <p:xfrm>
          <a:off x="5127000" y="158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{804B40A1-9DD7-4C44-B514-BF9C29925A5D}</a:tableStyleId>
              </a:tblPr>
              <a:tblGrid>
                <a:gridCol w="1247925"/>
                <a:gridCol w="2457375"/>
              </a:tblGrid>
              <a:tr h="266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Título</a:t>
                      </a:r>
                      <a:r>
                        <a:rPr b="1"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incidencia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E69138"/>
                    </a:solidFill>
                  </a:tcPr>
                </a:tc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Código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incidencia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Numérico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Informador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Programador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37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Causa/</a:t>
                      </a:r>
                      <a:b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Localización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Tarea con la incidencia o causa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37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Gravedad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Qué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tan 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rápido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ha de atenderse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Fecha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XX/XX/XXXX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21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Situación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Explicación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la incidencia</a:t>
                      </a:r>
                      <a:endParaRPr sz="11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Impacto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Estimación</a:t>
                      </a: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del impacto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Tareas afectadas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tareas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Equipo del Proyecto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811466" y="1289950"/>
            <a:ext cx="79749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Jose Diaz 		→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Manager y Full-Stack Lead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Joaquin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Esperón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→ Especialista en Front-end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 Sastre		→ Especialista en Back-end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Enrique Grau 		→ Especialista en Pruebas y en Seguridad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85"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280" y="1190638"/>
            <a:ext cx="1569024" cy="88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6605" y="2144724"/>
            <a:ext cx="800375" cy="9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9590" y="3067275"/>
            <a:ext cx="874403" cy="92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7447" y="4060842"/>
            <a:ext cx="1098675" cy="9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Herramientas de Organización y Comunicación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907707" y="1289950"/>
            <a:ext cx="79749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Comunicación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interna y avisos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→ Discord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y tracking de tareas 	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Trello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Repositorio de código 	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GitHub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Documentación y compartir archivos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Google Drive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85"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461" y="1182700"/>
            <a:ext cx="874701" cy="87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61461" y="2088950"/>
            <a:ext cx="874700" cy="8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361" y="2995200"/>
            <a:ext cx="994900" cy="99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1363" y="4110121"/>
            <a:ext cx="994899" cy="8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Costes del Personal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964373" y="1523225"/>
            <a:ext cx="79749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Manager y Full-Stack Lead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350h → 16€/h → 5600€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Especialista en Front-end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320h → 13€/h → 4160€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Especialista en Back-end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340h → 13€/h → 4420€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Especialista en Pruebas y en Seguridad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300h → 13€/h → 3900€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100" y="1575775"/>
            <a:ext cx="3018175" cy="26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Costes del Software y de Contingencia</a:t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1308625" y="1608525"/>
            <a:ext cx="65127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usarán en lo posible sólo licencias gratuitas 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0€ 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costes de software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Facilidad de traspasar tareas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0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Char char="●"/>
            </a:pPr>
            <a:r>
              <a:rPr b="1"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1000€</a:t>
            </a: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reserva de contingencia en caso de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emergencias o incidencias inesperadas</a:t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400" y="1608525"/>
            <a:ext cx="1977125" cy="19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/>
          <p:nvPr/>
        </p:nvSpPr>
        <p:spPr>
          <a:xfrm>
            <a:off x="4850" y="4850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2693250" y="2070975"/>
            <a:ext cx="4893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¿Alguna Pregunta?</a:t>
            </a:r>
            <a:endParaRPr b="1" sz="3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-1726" y="3983655"/>
            <a:ext cx="9144000" cy="1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