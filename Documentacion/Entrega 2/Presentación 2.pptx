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embeddedFontLst>
    <p:embeddedFont>
      <p:font typeface="Roboto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-bold.fntdata"/><Relationship Id="rId30" Type="http://schemas.openxmlformats.org/officeDocument/2006/relationships/font" Target="fonts/Roboto-regular.fntdata"/><Relationship Id="rId11" Type="http://schemas.openxmlformats.org/officeDocument/2006/relationships/slide" Target="slides/slide6.xml"/><Relationship Id="rId33" Type="http://schemas.openxmlformats.org/officeDocument/2006/relationships/font" Target="fonts/Roboto-boldItalic.fntdata"/><Relationship Id="rId10" Type="http://schemas.openxmlformats.org/officeDocument/2006/relationships/slide" Target="slides/slide5.xml"/><Relationship Id="rId32" Type="http://schemas.openxmlformats.org/officeDocument/2006/relationships/font" Target="fonts/Robo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cff95cce0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cff95cce0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ff95cce01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ff95cce0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RECORDAR DE DECIR QUE SE HA HECHO CON IA!!!!!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960e5257c0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960e5257c0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RECORDAR DE DECIR QUE SE HA HECHO CON IA!!!!!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960e5257c0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960e5257c0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RECORDAR DE DECIR QUE SE HA HECHO CON IA!!!!!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ff95cce01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cff95cce01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RECORDAR DECIR QUE SE HA HECHO CON IA!!!!!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960e5257c0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960e5257c0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RECORDAR DE DECIR QUE SE HA HECHO CON IA!!!!!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cff95cce01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cff95cce01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cff95cce01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cff95cce01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cff95cce01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cff95cce01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cff95cce01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cff95cce01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cff95cce01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cff95cce01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Funcionalidad Estrella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cff95cce01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cff95cce01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Funcionalidad Estrella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d029f0420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d029f0420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RECORDAR DECIR QUE SE HA HECHO CON IA!!!!!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d029f0420c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d029f0420c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Funcionalidad Estrella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d029f0420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d029f0420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Funcionalidad Estrella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d029f0420c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d029f0420c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Funcionalidad Estrella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d029f0420c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d029f0420c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Funcionalidad Estrella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d029f0420c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d029f0420c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Funcionalidad Estrella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d029f0420c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d029f0420c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Funcionalidad Estrella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d0079aab93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d0079aab93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RECORDAR DECIR QUE SE HA HECHO CON IA!!!!!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d0079aab93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d0079aab93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Funcionalidad Estrella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d0079aab93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d0079aab93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Funcionalidad Estrella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d0079aab93_1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d0079aab93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Funcionalidad Estrella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d0079aab93_1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d0079aab93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Funcionalidad Estrella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figma.com/make/x3ZRRSetqhcyxpRpuPXOQA/Interfaz-gr%C3%A1fica-Wealth-Hub?p=f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1" Type="http://schemas.openxmlformats.org/officeDocument/2006/relationships/image" Target="../media/image19.png"/><Relationship Id="rId10" Type="http://schemas.openxmlformats.org/officeDocument/2006/relationships/image" Target="../media/image22.png"/><Relationship Id="rId13" Type="http://schemas.openxmlformats.org/officeDocument/2006/relationships/image" Target="../media/image23.png"/><Relationship Id="rId1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9" Type="http://schemas.openxmlformats.org/officeDocument/2006/relationships/image" Target="../media/image28.png"/><Relationship Id="rId5" Type="http://schemas.openxmlformats.org/officeDocument/2006/relationships/image" Target="../media/image15.png"/><Relationship Id="rId6" Type="http://schemas.openxmlformats.org/officeDocument/2006/relationships/image" Target="../media/image18.png"/><Relationship Id="rId7" Type="http://schemas.openxmlformats.org/officeDocument/2006/relationships/image" Target="../media/image21.png"/><Relationship Id="rId8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125" y="125"/>
            <a:ext cx="9144000" cy="5143500"/>
          </a:xfrm>
          <a:prstGeom prst="rect">
            <a:avLst/>
          </a:prstGeom>
          <a:solidFill>
            <a:srgbClr val="0E1A2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" name="Google Shape;55;p13" title="logo.jpg"/>
          <p:cNvPicPr preferRelativeResize="0"/>
          <p:nvPr/>
        </p:nvPicPr>
        <p:blipFill rotWithShape="1">
          <a:blip r:embed="rId3">
            <a:alphaModFix/>
          </a:blip>
          <a:srcRect b="29595" l="17828" r="17718" t="24219"/>
          <a:stretch/>
        </p:blipFill>
        <p:spPr>
          <a:xfrm>
            <a:off x="983149" y="125"/>
            <a:ext cx="717794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/>
          <p:nvPr/>
        </p:nvSpPr>
        <p:spPr>
          <a:xfrm>
            <a:off x="4850" y="4850"/>
            <a:ext cx="9144000" cy="6321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64250"/>
            <a:ext cx="85206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8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Desafíos del Inversor Moderno</a:t>
            </a:r>
            <a:endParaRPr sz="28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5025300" y="1280250"/>
            <a:ext cx="3502500" cy="25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b="1"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Fragmentación: </a:t>
            </a:r>
            <a:r>
              <a:rPr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Capital disperso en múltiples exchanges y bancos.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b="1"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Parálisis por Análisis: </a:t>
            </a:r>
            <a:r>
              <a:rPr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Exceso de datos brutos sin procesar ni métricas claras.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b="1"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 Manual: </a:t>
            </a:r>
            <a:r>
              <a:rPr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Dependencia de hojas de cálculo lentas y propensas a errores.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" name="Google Shape;63;p14" title="Generated Image March 16, 2026 - 9_19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89350"/>
            <a:ext cx="4201751" cy="4201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/>
          <p:nvPr/>
        </p:nvSpPr>
        <p:spPr>
          <a:xfrm>
            <a:off x="4850" y="4850"/>
            <a:ext cx="9144000" cy="6321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64250"/>
            <a:ext cx="85206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Propuesta de Valor y Beneficios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5025300" y="1009525"/>
            <a:ext cx="3502500" cy="37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 Worth Real-Time: </a:t>
            </a:r>
            <a:r>
              <a:rPr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Consolidación automática en un solo Dashboard.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Optimización: </a:t>
            </a:r>
            <a:r>
              <a:rPr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Algoritmos de diversificación según perfil de riesgo.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Validación de Estrategias: </a:t>
            </a:r>
            <a:r>
              <a:rPr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Simulaciones históricas antes de invertir.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Seguridad Total: </a:t>
            </a:r>
            <a:r>
              <a:rPr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Read-Only sin custodia de fondos.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" name="Google Shape;71;p15" title="Gemini_Generated_Image_z5j7whz5j7whz5j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858075"/>
            <a:ext cx="4064300" cy="4064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60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/>
          <p:nvPr/>
        </p:nvSpPr>
        <p:spPr>
          <a:xfrm>
            <a:off x="4850" y="4850"/>
            <a:ext cx="9144000" cy="6321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64250"/>
            <a:ext cx="85206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Análisis de Mercado y Diferenciación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4982300" y="1499725"/>
            <a:ext cx="3502500" cy="27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Frente a Exchanges: </a:t>
            </a:r>
            <a:r>
              <a:rPr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Visión Holística (Cripto + Bolsa + Cash).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Frente a Trackers: </a:t>
            </a:r>
            <a:r>
              <a:rPr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Valor añadido mediante el Simulador Dinámico.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Frente al Excel: </a:t>
            </a:r>
            <a:r>
              <a:rPr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Automatización Real-Time y seguridad AES-256.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9" name="Google Shape;79;p16" title="Generated Image March 16, 2026 - 9_30AM.png"/>
          <p:cNvPicPr preferRelativeResize="0"/>
          <p:nvPr/>
        </p:nvPicPr>
        <p:blipFill rotWithShape="1">
          <a:blip r:embed="rId3">
            <a:alphaModFix/>
          </a:blip>
          <a:srcRect b="9600" l="0" r="0" t="0"/>
          <a:stretch/>
        </p:blipFill>
        <p:spPr>
          <a:xfrm>
            <a:off x="311700" y="990963"/>
            <a:ext cx="4201751" cy="37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Interfaz Gráfica de Usuario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4026600" y="2797175"/>
            <a:ext cx="1090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 u="sng">
                <a:solidFill>
                  <a:schemeClr val="hlink"/>
                </a:solidFill>
                <a:hlinkClick r:id="rId3"/>
              </a:rPr>
              <a:t>Mockup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/>
          <p:nvPr/>
        </p:nvSpPr>
        <p:spPr>
          <a:xfrm>
            <a:off x="4850" y="4850"/>
            <a:ext cx="9144000" cy="6321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64250"/>
            <a:ext cx="85206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8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Panel Introductorio</a:t>
            </a:r>
            <a:endParaRPr sz="28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5584375" y="726225"/>
            <a:ext cx="3502500" cy="439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Panel </a:t>
            </a:r>
            <a:r>
              <a:rPr b="1"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 defecto</a:t>
            </a:r>
            <a:r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 </a:t>
            </a:r>
            <a:r>
              <a:rPr b="1"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resumen </a:t>
            </a:r>
            <a:r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general de las características de la </a:t>
            </a:r>
            <a:r>
              <a:rPr b="1"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aplicación </a:t>
            </a:r>
            <a:r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 despertar el </a:t>
            </a:r>
            <a:r>
              <a:rPr b="1"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interés </a:t>
            </a:r>
            <a:r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las personas que aún</a:t>
            </a:r>
            <a:r>
              <a:rPr b="1"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no</a:t>
            </a:r>
            <a:r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sean </a:t>
            </a:r>
            <a:r>
              <a:rPr b="1"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usuarios</a:t>
            </a:r>
            <a:r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</a:t>
            </a:r>
            <a:r>
              <a:rPr b="1"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conecta </a:t>
            </a:r>
            <a:r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 el </a:t>
            </a:r>
            <a:r>
              <a:rPr b="1"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panel</a:t>
            </a:r>
            <a:r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b="1"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inicio de sesión</a:t>
            </a:r>
            <a:r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mediante botones como el “Iniciar Sesión”.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36950"/>
            <a:ext cx="5731325" cy="4484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/>
          <p:nvPr/>
        </p:nvSpPr>
        <p:spPr>
          <a:xfrm>
            <a:off x="4850" y="4850"/>
            <a:ext cx="9144000" cy="6321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" name="Google Shape;99;p19"/>
          <p:cNvSpPr txBox="1"/>
          <p:nvPr>
            <p:ph type="title"/>
          </p:nvPr>
        </p:nvSpPr>
        <p:spPr>
          <a:xfrm>
            <a:off x="311700" y="64250"/>
            <a:ext cx="85206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8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Panel de Inicio de Sesión</a:t>
            </a:r>
            <a:endParaRPr sz="28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6319150" y="748500"/>
            <a:ext cx="2829300" cy="439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</a:t>
            </a:r>
            <a:r>
              <a:rPr b="1"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típico login → iniciar sesión</a:t>
            </a:r>
            <a:r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 </a:t>
            </a:r>
            <a:r>
              <a:rPr b="1"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crear </a:t>
            </a:r>
            <a:r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una </a:t>
            </a:r>
            <a:r>
              <a:rPr b="1"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cuenta</a:t>
            </a:r>
            <a:r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Transiciona </a:t>
            </a:r>
            <a:r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 </a:t>
            </a:r>
            <a:r>
              <a:rPr b="1"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dashboard principal </a:t>
            </a:r>
            <a:r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 usuario.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" name="Google Shape;10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36950"/>
            <a:ext cx="6449774" cy="439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/>
          <p:nvPr/>
        </p:nvSpPr>
        <p:spPr>
          <a:xfrm>
            <a:off x="4850" y="4850"/>
            <a:ext cx="9144000" cy="6321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" name="Google Shape;107;p20"/>
          <p:cNvSpPr txBox="1"/>
          <p:nvPr>
            <p:ph type="title"/>
          </p:nvPr>
        </p:nvSpPr>
        <p:spPr>
          <a:xfrm>
            <a:off x="311700" y="64250"/>
            <a:ext cx="85206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8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Dashboard Principal</a:t>
            </a:r>
            <a:endParaRPr sz="28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0"/>
          <p:cNvSpPr txBox="1"/>
          <p:nvPr>
            <p:ph idx="1" type="body"/>
          </p:nvPr>
        </p:nvSpPr>
        <p:spPr>
          <a:xfrm>
            <a:off x="5372100" y="636950"/>
            <a:ext cx="3776700" cy="45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Resumen </a:t>
            </a:r>
            <a:r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las </a:t>
            </a:r>
            <a:r>
              <a:rPr b="1"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cuentas </a:t>
            </a:r>
            <a:r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vinculadas del </a:t>
            </a:r>
            <a:r>
              <a:rPr b="1"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usuario </a:t>
            </a:r>
            <a:r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 enseña el </a:t>
            </a:r>
            <a:r>
              <a:rPr b="1"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balance total</a:t>
            </a:r>
            <a:r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historial del dinero</a:t>
            </a:r>
            <a:r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asociado a la cuenta, la </a:t>
            </a:r>
            <a:r>
              <a:rPr b="1"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distribución</a:t>
            </a:r>
            <a:r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sus </a:t>
            </a:r>
            <a:r>
              <a:rPr b="1"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activos</a:t>
            </a:r>
            <a:r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etc.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" name="Google Shape;10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0" y="636950"/>
            <a:ext cx="5498113" cy="4506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/>
          <p:nvPr/>
        </p:nvSpPr>
        <p:spPr>
          <a:xfrm>
            <a:off x="4850" y="4850"/>
            <a:ext cx="9144000" cy="6321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" name="Google Shape;115;p21"/>
          <p:cNvSpPr txBox="1"/>
          <p:nvPr>
            <p:ph type="title"/>
          </p:nvPr>
        </p:nvSpPr>
        <p:spPr>
          <a:xfrm>
            <a:off x="311700" y="64250"/>
            <a:ext cx="85206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8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Dashboard Principal</a:t>
            </a:r>
            <a:endParaRPr sz="28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1"/>
          <p:cNvSpPr txBox="1"/>
          <p:nvPr>
            <p:ph idx="1" type="body"/>
          </p:nvPr>
        </p:nvSpPr>
        <p:spPr>
          <a:xfrm>
            <a:off x="5355775" y="748500"/>
            <a:ext cx="3792600" cy="439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También → </a:t>
            </a:r>
            <a:r>
              <a:rPr b="1"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inversiones </a:t>
            </a:r>
            <a:r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 </a:t>
            </a:r>
            <a:r>
              <a:rPr b="1"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tiene </a:t>
            </a:r>
            <a:r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</a:t>
            </a:r>
            <a:r>
              <a:rPr b="1"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usuario </a:t>
            </a:r>
            <a:r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 </a:t>
            </a:r>
            <a:r>
              <a:rPr b="1"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otras </a:t>
            </a:r>
            <a:r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 </a:t>
            </a:r>
            <a:r>
              <a:rPr b="1"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puedan interesarle</a:t>
            </a:r>
            <a:r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Conexiones </a:t>
            </a:r>
            <a:r>
              <a:rPr b="1"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b="1"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 la</a:t>
            </a:r>
            <a:r>
              <a:rPr b="1"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configuración </a:t>
            </a:r>
            <a:r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 </a:t>
            </a:r>
            <a:r>
              <a:rPr b="1"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perfil </a:t>
            </a:r>
            <a:r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 usuario y con los </a:t>
            </a:r>
            <a:r>
              <a:rPr b="1"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paneles </a:t>
            </a:r>
            <a:r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</a:t>
            </a:r>
            <a:r>
              <a:rPr b="1"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activo </a:t>
            </a:r>
            <a:r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(info detallada de</a:t>
            </a:r>
            <a:r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una inversión).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" name="Google Shape;11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0" y="636950"/>
            <a:ext cx="5481549" cy="450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/>
          <p:nvPr/>
        </p:nvSpPr>
        <p:spPr>
          <a:xfrm>
            <a:off x="4850" y="4850"/>
            <a:ext cx="9144000" cy="6321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" name="Google Shape;123;p22"/>
          <p:cNvSpPr txBox="1"/>
          <p:nvPr>
            <p:ph type="title"/>
          </p:nvPr>
        </p:nvSpPr>
        <p:spPr>
          <a:xfrm>
            <a:off x="311700" y="64250"/>
            <a:ext cx="85206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8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Panel de Activo</a:t>
            </a:r>
            <a:endParaRPr sz="28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2"/>
          <p:cNvSpPr txBox="1"/>
          <p:nvPr>
            <p:ph idx="1" type="body"/>
          </p:nvPr>
        </p:nvSpPr>
        <p:spPr>
          <a:xfrm>
            <a:off x="5712400" y="636950"/>
            <a:ext cx="3436800" cy="45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</a:t>
            </a:r>
            <a:r>
              <a:rPr b="1"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sola </a:t>
            </a:r>
            <a:r>
              <a:rPr b="1"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inversión </a:t>
            </a:r>
            <a:r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  información tanto </a:t>
            </a:r>
            <a:r>
              <a:rPr b="1"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general</a:t>
            </a:r>
            <a:r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como su historial de precios → como </a:t>
            </a:r>
            <a:r>
              <a:rPr b="1"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personal</a:t>
            </a:r>
            <a:r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como la cantidad que posee del activo.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5" name="Google Shape;12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0" y="636950"/>
            <a:ext cx="5555025" cy="440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/>
          <p:nvPr/>
        </p:nvSpPr>
        <p:spPr>
          <a:xfrm>
            <a:off x="4850" y="4850"/>
            <a:ext cx="9144000" cy="6321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" name="Google Shape;131;p23"/>
          <p:cNvSpPr txBox="1"/>
          <p:nvPr>
            <p:ph type="title"/>
          </p:nvPr>
        </p:nvSpPr>
        <p:spPr>
          <a:xfrm>
            <a:off x="311700" y="64250"/>
            <a:ext cx="85206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850">
                <a:solidFill>
                  <a:schemeClr val="lt1"/>
                </a:solidFill>
              </a:rPr>
              <a:t>Panel de Activo</a:t>
            </a:r>
            <a:endParaRPr sz="2850">
              <a:solidFill>
                <a:schemeClr val="lt1"/>
              </a:solidFill>
            </a:endParaRPr>
          </a:p>
        </p:txBody>
      </p:sp>
      <p:sp>
        <p:nvSpPr>
          <p:cNvPr id="132" name="Google Shape;132;p23"/>
          <p:cNvSpPr txBox="1"/>
          <p:nvPr>
            <p:ph idx="1" type="body"/>
          </p:nvPr>
        </p:nvSpPr>
        <p:spPr>
          <a:xfrm>
            <a:off x="5731325" y="636950"/>
            <a:ext cx="3417300" cy="45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También → </a:t>
            </a:r>
            <a:r>
              <a:rPr b="1" lang="e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simulación de inversión</a:t>
            </a:r>
            <a:r>
              <a:rPr lang="e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 simular invertir en un activo en el </a:t>
            </a:r>
            <a:r>
              <a:rPr b="1" lang="e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pasado</a:t>
            </a:r>
            <a:r>
              <a:rPr lang="e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o intentar </a:t>
            </a:r>
            <a:r>
              <a:rPr b="1" lang="e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predecir</a:t>
            </a:r>
            <a:r>
              <a:rPr lang="e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el resultado </a:t>
            </a:r>
            <a:r>
              <a:rPr b="1" lang="e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futuro</a:t>
            </a:r>
            <a:r>
              <a:rPr lang="e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invertir </a:t>
            </a:r>
            <a:r>
              <a:rPr b="1" lang="e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actualmente</a:t>
            </a:r>
            <a:r>
              <a:rPr lang="e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Conexiones </a:t>
            </a:r>
            <a:r>
              <a:rPr b="1" lang="e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b="1" lang="e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 la </a:t>
            </a:r>
            <a:r>
              <a:rPr b="1" lang="e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configuración </a:t>
            </a:r>
            <a:r>
              <a:rPr lang="e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 </a:t>
            </a:r>
            <a:r>
              <a:rPr b="1" lang="e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perfil </a:t>
            </a:r>
            <a:r>
              <a:rPr lang="e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 usuario y con el </a:t>
            </a:r>
            <a:r>
              <a:rPr b="1" lang="e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dashboard</a:t>
            </a:r>
            <a:r>
              <a:rPr lang="e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principal</a:t>
            </a:r>
            <a:r>
              <a:rPr lang="e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" name="Google Shape;13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0" y="636950"/>
            <a:ext cx="5914249" cy="450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/>
          <p:nvPr/>
        </p:nvSpPr>
        <p:spPr>
          <a:xfrm>
            <a:off x="4850" y="4850"/>
            <a:ext cx="9144000" cy="6321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" name="Google Shape;139;p24"/>
          <p:cNvSpPr txBox="1"/>
          <p:nvPr>
            <p:ph type="title"/>
          </p:nvPr>
        </p:nvSpPr>
        <p:spPr>
          <a:xfrm>
            <a:off x="311700" y="64250"/>
            <a:ext cx="85206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8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Panel de Perfil del Usuario</a:t>
            </a:r>
            <a:endParaRPr sz="28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4"/>
          <p:cNvSpPr txBox="1"/>
          <p:nvPr>
            <p:ph idx="1" type="body"/>
          </p:nvPr>
        </p:nvSpPr>
        <p:spPr>
          <a:xfrm>
            <a:off x="5034400" y="592275"/>
            <a:ext cx="4161600" cy="47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Información modificable </a:t>
            </a:r>
            <a:r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relacionada con el usuario → </a:t>
            </a:r>
            <a:r>
              <a:rPr b="1"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datos personales</a:t>
            </a:r>
            <a:r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(nombre...), </a:t>
            </a:r>
            <a:r>
              <a:rPr b="1"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cuentas vinculadas</a:t>
            </a:r>
            <a:r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(Binance...), </a:t>
            </a:r>
            <a:r>
              <a:rPr b="1"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perfil de Riesgo</a:t>
            </a:r>
            <a:r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(Conservador...), entre otras típicas. </a:t>
            </a:r>
            <a:r>
              <a:rPr b="1"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modos</a:t>
            </a:r>
            <a:r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 </a:t>
            </a:r>
            <a:r>
              <a:rPr b="1"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visualización</a:t>
            </a:r>
            <a:r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b="1"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modificación</a:t>
            </a:r>
            <a:r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1"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onexiones → </a:t>
            </a:r>
            <a:r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 el </a:t>
            </a:r>
            <a:r>
              <a:rPr b="1"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dashboard</a:t>
            </a:r>
            <a:r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principal</a:t>
            </a:r>
            <a:r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y con el </a:t>
            </a:r>
            <a:r>
              <a:rPr b="1"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panel introductorio</a:t>
            </a:r>
            <a:r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(al cerrar sesión).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1" name="Google Shape;14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0" y="636950"/>
            <a:ext cx="5154226" cy="4506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Arquitectura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6"/>
          <p:cNvSpPr/>
          <p:nvPr/>
        </p:nvSpPr>
        <p:spPr>
          <a:xfrm>
            <a:off x="4850" y="4850"/>
            <a:ext cx="9144000" cy="6321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" name="Google Shape;152;p26"/>
          <p:cNvSpPr txBox="1"/>
          <p:nvPr>
            <p:ph type="title"/>
          </p:nvPr>
        </p:nvSpPr>
        <p:spPr>
          <a:xfrm>
            <a:off x="311700" y="64250"/>
            <a:ext cx="85206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8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Arquitectura: </a:t>
            </a:r>
            <a:r>
              <a:rPr lang="es" sz="28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Solución</a:t>
            </a:r>
            <a:r>
              <a:rPr lang="es" sz="28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elegida</a:t>
            </a:r>
            <a:endParaRPr sz="28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6"/>
          <p:cNvSpPr txBox="1"/>
          <p:nvPr/>
        </p:nvSpPr>
        <p:spPr>
          <a:xfrm>
            <a:off x="536825" y="746713"/>
            <a:ext cx="6159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-"/>
            </a:pPr>
            <a:r>
              <a:rPr lang="es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Modelo cliente-servidor+DB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-"/>
            </a:pPr>
            <a:r>
              <a:rPr lang="es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Servidor y DB a su vez diseñados </a:t>
            </a:r>
            <a:r>
              <a:rPr lang="es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según</a:t>
            </a:r>
            <a:r>
              <a:rPr lang="es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patrón</a:t>
            </a:r>
            <a:r>
              <a:rPr lang="es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MVC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6"/>
          <p:cNvSpPr txBox="1"/>
          <p:nvPr/>
        </p:nvSpPr>
        <p:spPr>
          <a:xfrm>
            <a:off x="857075" y="1595400"/>
            <a:ext cx="26418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Pros: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-"/>
            </a:pPr>
            <a:r>
              <a:rPr lang="es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Modularidad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-"/>
            </a:pPr>
            <a:r>
              <a:rPr lang="es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Escalabilidad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-"/>
            </a:pPr>
            <a:r>
              <a:rPr lang="es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Facilidad de mantenimiento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-"/>
            </a:pPr>
            <a:r>
              <a:rPr lang="es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Facilidad de </a:t>
            </a:r>
            <a:r>
              <a:rPr lang="es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modificación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5" name="Google Shape;15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4700" y="1595400"/>
            <a:ext cx="5463349" cy="345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7"/>
          <p:cNvSpPr/>
          <p:nvPr/>
        </p:nvSpPr>
        <p:spPr>
          <a:xfrm>
            <a:off x="4850" y="4850"/>
            <a:ext cx="9144000" cy="6321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" name="Google Shape;161;p27"/>
          <p:cNvSpPr txBox="1"/>
          <p:nvPr>
            <p:ph type="title"/>
          </p:nvPr>
        </p:nvSpPr>
        <p:spPr>
          <a:xfrm>
            <a:off x="311700" y="64250"/>
            <a:ext cx="85206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850">
                <a:solidFill>
                  <a:schemeClr val="lt1"/>
                </a:solidFill>
              </a:rPr>
              <a:t>Patrones de diseño</a:t>
            </a:r>
            <a:endParaRPr sz="2850">
              <a:solidFill>
                <a:schemeClr val="lt1"/>
              </a:solidFill>
            </a:endParaRPr>
          </a:p>
        </p:txBody>
      </p:sp>
      <p:pic>
        <p:nvPicPr>
          <p:cNvPr id="162" name="Google Shape;162;p27"/>
          <p:cNvPicPr preferRelativeResize="0"/>
          <p:nvPr/>
        </p:nvPicPr>
        <p:blipFill rotWithShape="1">
          <a:blip r:embed="rId3">
            <a:alphaModFix/>
          </a:blip>
          <a:srcRect b="-1190" l="0" r="0" t="1190"/>
          <a:stretch/>
        </p:blipFill>
        <p:spPr>
          <a:xfrm>
            <a:off x="311700" y="1402075"/>
            <a:ext cx="1828800" cy="360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516475"/>
            <a:ext cx="2409825" cy="298132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7"/>
          <p:cNvSpPr txBox="1"/>
          <p:nvPr/>
        </p:nvSpPr>
        <p:spPr>
          <a:xfrm>
            <a:off x="205325" y="742125"/>
            <a:ext cx="615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Modelo-Vista-Controlador (MVC)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7"/>
          <p:cNvSpPr txBox="1"/>
          <p:nvPr/>
        </p:nvSpPr>
        <p:spPr>
          <a:xfrm>
            <a:off x="4953175" y="742125"/>
            <a:ext cx="3954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Data Access Object (DAO)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7"/>
          <p:cNvSpPr txBox="1"/>
          <p:nvPr/>
        </p:nvSpPr>
        <p:spPr>
          <a:xfrm>
            <a:off x="2176325" y="1309000"/>
            <a:ext cx="22173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Usuario </a:t>
            </a:r>
            <a:r>
              <a:rPr lang="es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interactúa</a:t>
            </a:r>
            <a:r>
              <a:rPr lang="es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con vista (web).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Vista corresponde a la </a:t>
            </a:r>
            <a:r>
              <a:rPr lang="es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página</a:t>
            </a:r>
            <a:r>
              <a:rPr lang="es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web react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Controlador al backend con la </a:t>
            </a:r>
            <a:r>
              <a:rPr lang="es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lógica</a:t>
            </a:r>
            <a:r>
              <a:rPr lang="es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de negocio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Modelo es la BD donde se almacena la </a:t>
            </a:r>
            <a:r>
              <a:rPr lang="es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información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7"/>
          <p:cNvSpPr txBox="1"/>
          <p:nvPr/>
        </p:nvSpPr>
        <p:spPr>
          <a:xfrm>
            <a:off x="6861350" y="1586050"/>
            <a:ext cx="22173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El DAO gestiona el acceso a la BD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Encapsula </a:t>
            </a:r>
            <a:r>
              <a:rPr lang="es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creación</a:t>
            </a:r>
            <a:r>
              <a:rPr lang="es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,  </a:t>
            </a:r>
            <a:r>
              <a:rPr lang="es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obtención</a:t>
            </a:r>
            <a:r>
              <a:rPr lang="es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s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actualización</a:t>
            </a:r>
            <a:r>
              <a:rPr lang="es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y borrado (CRUD)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Intermediario Controlador-Modelo 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8"/>
          <p:cNvSpPr/>
          <p:nvPr/>
        </p:nvSpPr>
        <p:spPr>
          <a:xfrm>
            <a:off x="4850" y="4850"/>
            <a:ext cx="9144000" cy="6321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p28"/>
          <p:cNvSpPr txBox="1"/>
          <p:nvPr>
            <p:ph type="title"/>
          </p:nvPr>
        </p:nvSpPr>
        <p:spPr>
          <a:xfrm>
            <a:off x="311700" y="64250"/>
            <a:ext cx="85206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850">
                <a:solidFill>
                  <a:schemeClr val="lt1"/>
                </a:solidFill>
              </a:rPr>
              <a:t>Patrones de diseño</a:t>
            </a:r>
            <a:endParaRPr sz="2850">
              <a:solidFill>
                <a:schemeClr val="lt1"/>
              </a:solidFill>
            </a:endParaRPr>
          </a:p>
        </p:txBody>
      </p:sp>
      <p:sp>
        <p:nvSpPr>
          <p:cNvPr id="174" name="Google Shape;174;p28"/>
          <p:cNvSpPr txBox="1"/>
          <p:nvPr/>
        </p:nvSpPr>
        <p:spPr>
          <a:xfrm>
            <a:off x="205325" y="742125"/>
            <a:ext cx="615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Singleton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8"/>
          <p:cNvSpPr txBox="1"/>
          <p:nvPr/>
        </p:nvSpPr>
        <p:spPr>
          <a:xfrm>
            <a:off x="4953175" y="742125"/>
            <a:ext cx="3954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Factory Method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8"/>
          <p:cNvSpPr txBox="1"/>
          <p:nvPr/>
        </p:nvSpPr>
        <p:spPr>
          <a:xfrm>
            <a:off x="483350" y="2966325"/>
            <a:ext cx="45768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Única</a:t>
            </a:r>
            <a:r>
              <a:rPr lang="es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instancia de conexiones de </a:t>
            </a:r>
            <a:r>
              <a:rPr lang="es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comunicación</a:t>
            </a:r>
            <a:r>
              <a:rPr lang="es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Ayuda a garantizar la integridad de los datos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Importante para </a:t>
            </a:r>
            <a:r>
              <a:rPr lang="es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operación</a:t>
            </a:r>
            <a:r>
              <a:rPr lang="es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s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inserción</a:t>
            </a:r>
            <a:r>
              <a:rPr lang="es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s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modificación</a:t>
            </a:r>
            <a:r>
              <a:rPr lang="es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/borrado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8"/>
          <p:cNvSpPr txBox="1"/>
          <p:nvPr/>
        </p:nvSpPr>
        <p:spPr>
          <a:xfrm>
            <a:off x="5102975" y="1309000"/>
            <a:ext cx="39543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Uso de clases factory, que generan objeto apropiado para cada caso.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Útil</a:t>
            </a:r>
            <a:r>
              <a:rPr lang="es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por el polimorfismo de datos debido a las distintas fuentes</a:t>
            </a:r>
            <a:r>
              <a:rPr lang="es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8" name="Google Shape;17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56225"/>
            <a:ext cx="4672450" cy="145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97125" y="3041175"/>
            <a:ext cx="3866401" cy="189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9"/>
          <p:cNvSpPr/>
          <p:nvPr/>
        </p:nvSpPr>
        <p:spPr>
          <a:xfrm>
            <a:off x="4850" y="4850"/>
            <a:ext cx="9144000" cy="6321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" name="Google Shape;185;p29"/>
          <p:cNvSpPr txBox="1"/>
          <p:nvPr>
            <p:ph type="title"/>
          </p:nvPr>
        </p:nvSpPr>
        <p:spPr>
          <a:xfrm>
            <a:off x="311700" y="64250"/>
            <a:ext cx="85206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8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Tecnologías</a:t>
            </a:r>
            <a:r>
              <a:rPr lang="es" sz="28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y herramientas</a:t>
            </a:r>
            <a:endParaRPr sz="28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9"/>
          <p:cNvSpPr txBox="1"/>
          <p:nvPr/>
        </p:nvSpPr>
        <p:spPr>
          <a:xfrm>
            <a:off x="230875" y="917975"/>
            <a:ext cx="30000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React (Interfaces)</a:t>
            </a:r>
            <a:endParaRPr sz="16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HTML5 (Estructura WEB)</a:t>
            </a:r>
            <a:endParaRPr sz="16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Tailwind CSS (Estilo visual)</a:t>
            </a:r>
            <a:br>
              <a:rPr lang="es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Vercel (Despliegue)</a:t>
            </a:r>
            <a:endParaRPr sz="16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9"/>
          <p:cNvSpPr txBox="1"/>
          <p:nvPr/>
        </p:nvSpPr>
        <p:spPr>
          <a:xfrm>
            <a:off x="311700" y="2525700"/>
            <a:ext cx="3000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r>
              <a:rPr lang="es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Java 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Spring Boot</a:t>
            </a:r>
            <a:r>
              <a:rPr lang="es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(API REST)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APIs fuente de datos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9"/>
          <p:cNvSpPr txBox="1"/>
          <p:nvPr/>
        </p:nvSpPr>
        <p:spPr>
          <a:xfrm>
            <a:off x="311700" y="4004000"/>
            <a:ext cx="3155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Base de datos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PostgreSQL (BD-relacional)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Supabase</a:t>
            </a:r>
            <a:r>
              <a:rPr lang="es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(Despliegue BD)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9" name="Google Shape;18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5250" y="1073837"/>
            <a:ext cx="1698150" cy="84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41663" y="1044650"/>
            <a:ext cx="907425" cy="90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49100" y="1044661"/>
            <a:ext cx="1827451" cy="779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11348" y="2359775"/>
            <a:ext cx="1448650" cy="144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781625" y="2359775"/>
            <a:ext cx="1448650" cy="1448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858056" y="3840922"/>
            <a:ext cx="2074644" cy="129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063508" y="4004000"/>
            <a:ext cx="1611417" cy="96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321401" y="948050"/>
            <a:ext cx="1827451" cy="10279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9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700198" y="2467891"/>
            <a:ext cx="1448650" cy="4804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9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308216" y="2421760"/>
            <a:ext cx="1391972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9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886875" y="3001725"/>
            <a:ext cx="2004420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0"/>
          <p:cNvSpPr/>
          <p:nvPr/>
        </p:nvSpPr>
        <p:spPr>
          <a:xfrm>
            <a:off x="4850" y="4850"/>
            <a:ext cx="9144000" cy="6321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" name="Google Shape;205;p30"/>
          <p:cNvSpPr txBox="1"/>
          <p:nvPr>
            <p:ph type="title"/>
          </p:nvPr>
        </p:nvSpPr>
        <p:spPr>
          <a:xfrm>
            <a:off x="311700" y="64250"/>
            <a:ext cx="85206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850">
                <a:solidFill>
                  <a:schemeClr val="lt1"/>
                </a:solidFill>
              </a:rPr>
              <a:t>División</a:t>
            </a:r>
            <a:r>
              <a:rPr lang="es" sz="2850">
                <a:solidFill>
                  <a:schemeClr val="lt1"/>
                </a:solidFill>
              </a:rPr>
              <a:t> por componentes</a:t>
            </a:r>
            <a:endParaRPr sz="2850">
              <a:solidFill>
                <a:schemeClr val="lt1"/>
              </a:solidFill>
            </a:endParaRPr>
          </a:p>
        </p:txBody>
      </p:sp>
      <p:sp>
        <p:nvSpPr>
          <p:cNvPr id="206" name="Google Shape;206;p30"/>
          <p:cNvSpPr/>
          <p:nvPr/>
        </p:nvSpPr>
        <p:spPr>
          <a:xfrm>
            <a:off x="226700" y="859750"/>
            <a:ext cx="2064000" cy="2181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Calibri"/>
                <a:ea typeface="Calibri"/>
                <a:cs typeface="Calibri"/>
                <a:sym typeface="Calibri"/>
              </a:rPr>
              <a:t>Frontend / Vista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30"/>
          <p:cNvSpPr/>
          <p:nvPr/>
        </p:nvSpPr>
        <p:spPr>
          <a:xfrm>
            <a:off x="3039050" y="870450"/>
            <a:ext cx="4619400" cy="4213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Calibri"/>
                <a:ea typeface="Calibri"/>
                <a:cs typeface="Calibri"/>
                <a:sym typeface="Calibri"/>
              </a:rPr>
              <a:t>Backend 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30"/>
          <p:cNvSpPr/>
          <p:nvPr/>
        </p:nvSpPr>
        <p:spPr>
          <a:xfrm>
            <a:off x="7669200" y="870450"/>
            <a:ext cx="1163100" cy="4213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Calibri"/>
                <a:ea typeface="Calibri"/>
                <a:cs typeface="Calibri"/>
                <a:sym typeface="Calibri"/>
              </a:rPr>
              <a:t>BD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30"/>
          <p:cNvSpPr/>
          <p:nvPr/>
        </p:nvSpPr>
        <p:spPr>
          <a:xfrm>
            <a:off x="349700" y="1244700"/>
            <a:ext cx="1818000" cy="1604100"/>
          </a:xfrm>
          <a:prstGeom prst="rect">
            <a:avLst/>
          </a:prstGeom>
          <a:solidFill>
            <a:srgbClr val="1E293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Visualización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-"/>
            </a:pPr>
            <a:r>
              <a:rPr lang="e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Presentación</a:t>
            </a:r>
            <a:r>
              <a:rPr lang="e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visual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-"/>
            </a:pPr>
            <a:r>
              <a:rPr lang="e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Gráficas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-"/>
            </a:pPr>
            <a:r>
              <a:rPr lang="e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Interfaz de usuario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30"/>
          <p:cNvSpPr/>
          <p:nvPr/>
        </p:nvSpPr>
        <p:spPr>
          <a:xfrm>
            <a:off x="3199600" y="1437175"/>
            <a:ext cx="4245300" cy="1147200"/>
          </a:xfrm>
          <a:prstGeom prst="rect">
            <a:avLst/>
          </a:prstGeom>
          <a:solidFill>
            <a:srgbClr val="1E293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Gestión</a:t>
            </a:r>
            <a:r>
              <a:rPr lang="e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de conexiones / Usuarios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-"/>
            </a:pPr>
            <a:r>
              <a:rPr lang="e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Login y sesiones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-"/>
            </a:pPr>
            <a:r>
              <a:rPr lang="e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Perfil de usuario / </a:t>
            </a:r>
            <a:r>
              <a:rPr lang="e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configuración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-"/>
            </a:pPr>
            <a:r>
              <a:rPr lang="e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Acciones y bienes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30"/>
          <p:cNvSpPr/>
          <p:nvPr/>
        </p:nvSpPr>
        <p:spPr>
          <a:xfrm>
            <a:off x="5856800" y="3843200"/>
            <a:ext cx="2464800" cy="1147200"/>
          </a:xfrm>
          <a:prstGeom prst="rect">
            <a:avLst/>
          </a:prstGeom>
          <a:solidFill>
            <a:srgbClr val="1E293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Gestión</a:t>
            </a:r>
            <a:r>
              <a:rPr lang="e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de datos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-"/>
            </a:pPr>
            <a:r>
              <a:rPr lang="e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DAOs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-"/>
            </a:pPr>
            <a:r>
              <a:rPr lang="e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Conexion con BD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-"/>
            </a:pPr>
            <a:r>
              <a:rPr lang="e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CRUD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30"/>
          <p:cNvSpPr/>
          <p:nvPr/>
        </p:nvSpPr>
        <p:spPr>
          <a:xfrm>
            <a:off x="3199525" y="2666975"/>
            <a:ext cx="4245300" cy="1015800"/>
          </a:xfrm>
          <a:prstGeom prst="rect">
            <a:avLst/>
          </a:prstGeom>
          <a:solidFill>
            <a:srgbClr val="1E293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Análisis y </a:t>
            </a:r>
            <a:r>
              <a:rPr lang="e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predicción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-"/>
            </a:pPr>
            <a:r>
              <a:rPr lang="e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Cálculos</a:t>
            </a:r>
            <a:r>
              <a:rPr lang="e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y algoritmos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-"/>
            </a:pPr>
            <a:r>
              <a:rPr lang="e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Generación</a:t>
            </a:r>
            <a:r>
              <a:rPr lang="e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de predicciones y perfiles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-"/>
            </a:pPr>
            <a:r>
              <a:rPr lang="e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Procesado de datos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30"/>
          <p:cNvSpPr/>
          <p:nvPr/>
        </p:nvSpPr>
        <p:spPr>
          <a:xfrm>
            <a:off x="226700" y="3456550"/>
            <a:ext cx="2141700" cy="1604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Calibri"/>
                <a:ea typeface="Calibri"/>
                <a:cs typeface="Calibri"/>
                <a:sym typeface="Calibri"/>
              </a:rPr>
              <a:t>APIs de origen de datos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30"/>
          <p:cNvSpPr/>
          <p:nvPr/>
        </p:nvSpPr>
        <p:spPr>
          <a:xfrm>
            <a:off x="1603550" y="3843200"/>
            <a:ext cx="2968500" cy="1147200"/>
          </a:xfrm>
          <a:prstGeom prst="rect">
            <a:avLst/>
          </a:prstGeom>
          <a:solidFill>
            <a:srgbClr val="1E293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Adquisición</a:t>
            </a:r>
            <a:r>
              <a:rPr lang="e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de datos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-"/>
            </a:pPr>
            <a:r>
              <a:rPr lang="e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Conexión</a:t>
            </a:r>
            <a:r>
              <a:rPr lang="e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con APIs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-"/>
            </a:pPr>
            <a:r>
              <a:rPr lang="e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Formato de datos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-"/>
            </a:pPr>
            <a:r>
              <a:rPr lang="e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Recopilacion de informacion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1"/>
          <p:cNvSpPr/>
          <p:nvPr/>
        </p:nvSpPr>
        <p:spPr>
          <a:xfrm>
            <a:off x="4850" y="4850"/>
            <a:ext cx="9144000" cy="6321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0" name="Google Shape;220;p31"/>
          <p:cNvSpPr txBox="1"/>
          <p:nvPr>
            <p:ph type="title"/>
          </p:nvPr>
        </p:nvSpPr>
        <p:spPr>
          <a:xfrm>
            <a:off x="311700" y="64250"/>
            <a:ext cx="85206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8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Modelo C4: Niveles 1 y 2</a:t>
            </a:r>
            <a:endParaRPr sz="28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1" name="Google Shape;22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9800" y="661205"/>
            <a:ext cx="2674225" cy="4410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28528" y="636950"/>
            <a:ext cx="4338622" cy="4459401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31"/>
          <p:cNvSpPr txBox="1"/>
          <p:nvPr/>
        </p:nvSpPr>
        <p:spPr>
          <a:xfrm>
            <a:off x="2399325" y="4847225"/>
            <a:ext cx="8547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2"/>
                </a:solidFill>
              </a:rPr>
              <a:t>Nivel 1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224" name="Google Shape;224;p31"/>
          <p:cNvSpPr txBox="1"/>
          <p:nvPr/>
        </p:nvSpPr>
        <p:spPr>
          <a:xfrm>
            <a:off x="8108075" y="4847225"/>
            <a:ext cx="8547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2"/>
                </a:solidFill>
              </a:rPr>
              <a:t>Nivel 2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Way of Working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3"/>
          <p:cNvSpPr/>
          <p:nvPr/>
        </p:nvSpPr>
        <p:spPr>
          <a:xfrm>
            <a:off x="4850" y="4850"/>
            <a:ext cx="9144000" cy="6321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5" name="Google Shape;235;p33"/>
          <p:cNvSpPr txBox="1"/>
          <p:nvPr>
            <p:ph type="title"/>
          </p:nvPr>
        </p:nvSpPr>
        <p:spPr>
          <a:xfrm>
            <a:off x="311700" y="64250"/>
            <a:ext cx="85206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8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Estrategia de git y conflictos</a:t>
            </a:r>
            <a:endParaRPr sz="28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33"/>
          <p:cNvSpPr txBox="1"/>
          <p:nvPr>
            <p:ph idx="1" type="body"/>
          </p:nvPr>
        </p:nvSpPr>
        <p:spPr>
          <a:xfrm>
            <a:off x="4965825" y="1568450"/>
            <a:ext cx="3417300" cy="26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 de Versiones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Estructura de 6 ramas:</a:t>
            </a:r>
            <a:r>
              <a:rPr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master</a:t>
            </a:r>
            <a:r>
              <a:rPr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(Producción), </a:t>
            </a:r>
            <a:r>
              <a:rPr lang="es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develop</a:t>
            </a:r>
            <a:r>
              <a:rPr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(Integración) y 4 ramas personales.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b="1"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Reglas de oro: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Sincronización diaria (</a:t>
            </a:r>
            <a:r>
              <a:rPr lang="es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git pull</a:t>
            </a:r>
            <a:r>
              <a:rPr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Pull Requests obligatorios para mergear a </a:t>
            </a:r>
            <a:r>
              <a:rPr lang="es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develop</a:t>
            </a:r>
            <a:r>
              <a:rPr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Resolución manual de conflictos en local.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7" name="Google Shape;23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738149"/>
            <a:ext cx="3417299" cy="43042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4"/>
          <p:cNvSpPr/>
          <p:nvPr/>
        </p:nvSpPr>
        <p:spPr>
          <a:xfrm>
            <a:off x="4850" y="4850"/>
            <a:ext cx="9144000" cy="6321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" name="Google Shape;243;p34"/>
          <p:cNvSpPr txBox="1"/>
          <p:nvPr>
            <p:ph type="title"/>
          </p:nvPr>
        </p:nvSpPr>
        <p:spPr>
          <a:xfrm>
            <a:off x="311700" y="64250"/>
            <a:ext cx="85206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8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Calidad y Umbrales</a:t>
            </a:r>
            <a:endParaRPr sz="28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34"/>
          <p:cNvSpPr txBox="1"/>
          <p:nvPr>
            <p:ph idx="1" type="body"/>
          </p:nvPr>
        </p:nvSpPr>
        <p:spPr>
          <a:xfrm>
            <a:off x="5327050" y="1778988"/>
            <a:ext cx="3417300" cy="229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Estándares de Calidad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Cobertura (Testing):</a:t>
            </a:r>
            <a:r>
              <a:rPr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90% en Backend (Lógica crítica) y 75% mínimo general.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Cero Errores:</a:t>
            </a:r>
            <a:r>
              <a:rPr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100% éxito en tests de integración y 0% margen de error en cálculos.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Seguridad:</a:t>
            </a:r>
            <a:r>
              <a:rPr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Escaneo de secretos en GitHub (protección de API Keys).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5" name="Google Shape;245;p34"/>
          <p:cNvPicPr preferRelativeResize="0"/>
          <p:nvPr/>
        </p:nvPicPr>
        <p:blipFill rotWithShape="1">
          <a:blip r:embed="rId3">
            <a:alphaModFix/>
          </a:blip>
          <a:srcRect b="14832" l="1576" r="50092" t="13028"/>
          <a:stretch/>
        </p:blipFill>
        <p:spPr>
          <a:xfrm>
            <a:off x="311700" y="1084138"/>
            <a:ext cx="4516951" cy="3680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5"/>
          <p:cNvSpPr/>
          <p:nvPr/>
        </p:nvSpPr>
        <p:spPr>
          <a:xfrm>
            <a:off x="4850" y="4850"/>
            <a:ext cx="9144000" cy="6321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1" name="Google Shape;251;p35"/>
          <p:cNvSpPr txBox="1"/>
          <p:nvPr>
            <p:ph type="title"/>
          </p:nvPr>
        </p:nvSpPr>
        <p:spPr>
          <a:xfrm>
            <a:off x="311700" y="64250"/>
            <a:ext cx="8520600" cy="57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8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Ciclo de vida</a:t>
            </a:r>
            <a:endParaRPr sz="28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2" name="Google Shape;252;p35"/>
          <p:cNvPicPr preferRelativeResize="0"/>
          <p:nvPr/>
        </p:nvPicPr>
        <p:blipFill rotWithShape="1">
          <a:blip r:embed="rId3">
            <a:alphaModFix/>
          </a:blip>
          <a:srcRect b="8592" l="0" r="0" t="0"/>
          <a:stretch/>
        </p:blipFill>
        <p:spPr>
          <a:xfrm>
            <a:off x="55275" y="636950"/>
            <a:ext cx="9043151" cy="45086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6"/>
          <p:cNvSpPr/>
          <p:nvPr/>
        </p:nvSpPr>
        <p:spPr>
          <a:xfrm>
            <a:off x="4850" y="4850"/>
            <a:ext cx="9144000" cy="6321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8" name="Google Shape;258;p36"/>
          <p:cNvSpPr txBox="1"/>
          <p:nvPr>
            <p:ph type="title"/>
          </p:nvPr>
        </p:nvSpPr>
        <p:spPr>
          <a:xfrm>
            <a:off x="311700" y="64250"/>
            <a:ext cx="85206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8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Política de despliegue</a:t>
            </a:r>
            <a:endParaRPr sz="28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36"/>
          <p:cNvSpPr txBox="1"/>
          <p:nvPr>
            <p:ph idx="1" type="body"/>
          </p:nvPr>
        </p:nvSpPr>
        <p:spPr>
          <a:xfrm>
            <a:off x="5533500" y="1437750"/>
            <a:ext cx="3417300" cy="22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Frontend (Vercel):</a:t>
            </a:r>
            <a:r>
              <a:rPr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Despliegue automático y global de React.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Backend (Servidor Java):</a:t>
            </a:r>
            <a:r>
              <a:rPr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Ejecución de </a:t>
            </a:r>
            <a:r>
              <a:rPr lang="es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.jar</a:t>
            </a:r>
            <a:r>
              <a:rPr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 conexión segura.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 de Datos:</a:t>
            </a:r>
            <a:r>
              <a:rPr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Supabase (PostgreSQL) como núcleo centralizado.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Seguridad:</a:t>
            </a:r>
            <a:r>
              <a:rPr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Rollback instantáneo en el Front y &lt; 5 min en el Back.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0" name="Google Shape;260;p36"/>
          <p:cNvPicPr preferRelativeResize="0"/>
          <p:nvPr/>
        </p:nvPicPr>
        <p:blipFill rotWithShape="1">
          <a:blip r:embed="rId3">
            <a:alphaModFix/>
          </a:blip>
          <a:srcRect b="9584" l="0" r="0" t="0"/>
          <a:stretch/>
        </p:blipFill>
        <p:spPr>
          <a:xfrm>
            <a:off x="158350" y="1324024"/>
            <a:ext cx="5055675" cy="249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